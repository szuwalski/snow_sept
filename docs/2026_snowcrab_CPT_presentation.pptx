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209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2-hour slot. Doc: 2026 SAFE draft. Values match the Sept 13 knit (post net-mensuration correction).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Leadership summary in the SAFE-summary-slides format. Risk scores: assessment 1, popdyn 2 (low preferred males), ecosystem 1, fishery 1. ABC rises despite lower OFL because the buffer moved 40% to 20%.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allocations leave ~15 min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Overfished determination for 2024/25 was made in Oct 2025 under Tier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Catches are the SSC-reported values; our ADF&amp;G data give 2.15 kt for 2024/25 vs 2.10 in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Categorized responses; full text in Section B of the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morphometric direction is the most consequential; we keep the preferred-male caution visible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arrived Sep 11-12; full model set, jitters and retrospectives rerun on the corrected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asymmetry is the heart of the buffer and risk-table discussion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OFL/large-male = 16.98/23.0 = 74%; OFL/preferred = 16.98/15.88 = 107%.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rows verified against Table 11 of the Sept 13 knit; linear-eqn column is the ramped-F linear OFL.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rows verified against Table 23 of the Sept 13 knit. 25.3/26.1/26.1a are pre-correction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focused convergence analysis the June 2026 SSC requested.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Fits broadly similar across models; largest misfits in non-directed fishery comps.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Main-text depth per plan; Appendix B backup slides available if the CPT wants the experiment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Buck raised the buffer as the CPT-side response to the correction. Our position: 20%; open to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Current-year popdyn raised to Level 2 by the authors; the ESP/ESR summary scored it Level 1. Ecosystem/fishery cells from the Sept 2026 ESP-ESR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titlebg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926080" y="2103120"/>
            <a:ext cx="8869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assessment for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Bering Sea snow crab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2926080" y="397764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C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Adams and Cody Szuwalski  |  Alaska Fisheries Science Center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926080" y="448056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Crab Plan Team  |  September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 |  Not overfished  | No overfishing  | Not Rebuilt 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868680"/>
            <a:ext cx="658368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50" b="1" dirty="0">
                <a:solidFill>
                  <a:srgbClr val="07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summary</a:t>
            </a:r>
            <a:endParaRPr lang="en-US" sz="1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Tier 4 random-effects (REMA) model on morphometrically mature male biomass, ramped crab-FMP control rule, Baranov catch equation</a:t>
            </a:r>
            <a:endParaRPr lang="en-US" sz="18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6 Tier 3 GMACS models (25.3, 26.1, 26.1a, 26.1b, 26.1c, 26.2) presented to document convergence progress; none proposed for specification</a:t>
            </a:r>
            <a:endParaRPr lang="en-US" sz="1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50" b="1" dirty="0">
                <a:solidFill>
                  <a:srgbClr val="07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</a:t>
            </a:r>
            <a:endParaRPr lang="en-US" sz="1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Catch: 2025/26 directed fishery (4.13 kt retained) and bycatch</a:t>
            </a:r>
            <a:endParaRPr lang="en-US" sz="18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2026 NMFS summer trawl survey; net-mensuration correction lowered estimates ~4% between 2024 and 2026</a:t>
            </a:r>
            <a:endParaRPr lang="en-US" sz="1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50" b="1" dirty="0">
                <a:solidFill>
                  <a:srgbClr val="07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items</a:t>
            </a:r>
            <a:endParaRPr lang="en-US" sz="1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males (&gt;101 mm) 4th lowest in 44-year series; current-year population dynamics scored Level 2</a:t>
            </a:r>
            <a:endParaRPr lang="en-US" sz="18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plan (Amendment 53) in place; not overfished, no overfishing, not rebuilt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6967728" y="96012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4F9FA"/>
          </a:solidFill>
          <a:ln w="12700">
            <a:solidFill>
              <a:srgbClr val="D5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967728" y="106984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16.98 kt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059168" y="18288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OFL (2026/27)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528048" y="96012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4F9FA"/>
          </a:solidFill>
          <a:ln w="12700">
            <a:solidFill>
              <a:srgbClr val="D5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528048" y="106984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13.58 kt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9619488" y="18288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ABC (20% buffer)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967728" y="251460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4F9FA"/>
          </a:solidFill>
          <a:ln w="12700">
            <a:solidFill>
              <a:srgbClr val="D5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967728" y="262432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0.747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7059168" y="33832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status (B / BMSY proxy)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528048" y="251460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4F9FA"/>
          </a:solidFill>
          <a:ln w="12700">
            <a:solidFill>
              <a:srgbClr val="D5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9528048" y="262432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109.30 kt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9619488" y="33832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male biomass, 2026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967728" y="406908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4F9FA"/>
          </a:solidFill>
          <a:ln w="12700">
            <a:solidFill>
              <a:srgbClr val="D5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967728" y="417880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3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-16%</a:t>
            </a:r>
            <a:endParaRPr lang="en-US" sz="3200" dirty="0"/>
          </a:p>
        </p:txBody>
      </p:sp>
      <p:sp>
        <p:nvSpPr>
          <p:cNvPr id="22" name="Text 19"/>
          <p:cNvSpPr txBox="1"/>
          <p:nvPr/>
        </p:nvSpPr>
        <p:spPr>
          <a:xfrm>
            <a:off x="7059168" y="49377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OFL vs 2025/26 (20.11 kt)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9528048" y="406908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4F9FA"/>
          </a:solidFill>
          <a:ln w="12700">
            <a:solidFill>
              <a:srgbClr val="D5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9528048" y="417880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3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</a:t>
            </a:r>
            <a:endParaRPr lang="en-US" sz="3200" dirty="0"/>
          </a:p>
        </p:txBody>
      </p:sp>
      <p:sp>
        <p:nvSpPr>
          <p:cNvPr id="25" name="Text 22"/>
          <p:cNvSpPr txBox="1"/>
          <p:nvPr/>
        </p:nvSpPr>
        <p:spPr>
          <a:xfrm>
            <a:off x="9619488" y="49377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vs 2025/26 (12.07 kt)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3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105156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context and 2025/26 performance (10 min)</a:t>
            </a:r>
            <a:endParaRPr lang="en-US" sz="19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to SSC and CPT comments (10 min)</a:t>
            </a:r>
            <a:endParaRPr lang="en-US" sz="19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2026 survey, net-mensuration correction, input corrections (15 min)</a:t>
            </a:r>
            <a:endParaRPr lang="en-US" sz="19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maturity definition question (10 min)</a:t>
            </a:r>
            <a:endParaRPr lang="en-US" sz="19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assessment and 2026/27 specification (20 min)</a:t>
            </a:r>
            <a:endParaRPr lang="en-US" sz="19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models: convergence, retrospectives, male-only direction (30 min)</a:t>
            </a:r>
            <a:endParaRPr lang="en-US" sz="19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buffer and risk table (10 min)</a:t>
            </a:r>
            <a:endParaRPr lang="en-US" sz="19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status and path to the January 2027 workshop (10 min)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divbg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context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2025/26 performance, and what changed this cycle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status at a glance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5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38560" cy="9144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stock subject to overfishing?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2025/26 total catch 7.10 kt vs OFL 20.11 kt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stock overfished?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MMB 109.30 kt above MSST 73.14 kt across the whole 95% CI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approaching an overfished condition?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reliable projection: Tier 3 unstable, Tier 4 produces none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Rebuilt?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the BMSY proxy of 146.3 kt; remains under the Amendment 53 rebuilding plan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11480" y="4206240"/>
            <a:ext cx="109728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overfished October 2021; directed fishery closed 2022 and 2023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fishery in 2024 (2.15 kt retained), larger in 2025 (4.13 kt)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performance, 5 most recent assessments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38560" cy="2834640"/>
        </p:xfrm>
        <a:graphic>
          <a:graphicData uri="http://schemas.openxmlformats.org/drawingml/2006/table">
            <a:tbl>
              <a:tblPr/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46B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determination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050" i="1" dirty="0">
                          <a:solidFill>
                            <a:srgbClr val="CCE7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made the following October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46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46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46B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050" i="1" dirty="0">
                          <a:solidFill>
                            <a:srgbClr val="CCE7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the preceding October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46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46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46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050" i="1" dirty="0">
                          <a:solidFill>
                            <a:srgbClr val="CCE7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crab year total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46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4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MSST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MMB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OFL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2021/22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201.94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90.83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16.53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12.35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5.51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5.51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7.94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2022/23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171.85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203.71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22.75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16.98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2023/24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211.42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234.84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34.04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17.02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2024/25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157.41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132.45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43.21*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15.12*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4.63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4.63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6.19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2025/26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157.41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231.95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44.33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26.61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9.30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9.11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15.65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11480" y="3977640"/>
            <a:ext cx="1115568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 lb; values as used in management each year, not re-estimated by this assessment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Specified under Tier 3 in October 2024; the Tier 4 status determination for 2024/25 came the following October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drop in MMB at 2024/25 reflects the switch to Tier 4 estimates, not a change in the stock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catch was below the specified OFL in all 5 years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the OFL, last 5 crab years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38560" cy="914400"/>
        </p:xfrm>
        <a:graphic>
          <a:graphicData uri="http://schemas.openxmlformats.org/drawingml/2006/table">
            <a:tbl>
              <a:tblPr/>
              <a:tblGrid>
                <a:gridCol w="125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Crab year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BMSY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Proj. MMB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MMB/BMSY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FOFL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2022/23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183.10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1982-2021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2023/24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155.91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1982-2022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2024/25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191.81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1984-2023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2025/26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142.79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1982-2024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2026/27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146.29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1982-2026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11480" y="3977640"/>
            <a:ext cx="1115568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to Tier 4 for 2025/26 after the October 2025 SSC found the Tier 3 convergence problems too severe to use for advice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2026/27 row is this assessment; biomass and OFL in 1,000 t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divbg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to SSC and CPT comments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and October 2025 SSC; May 2026 and September 2025 CPT, grouped by theme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responses: model scope and convergence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 only the Tier 4 model forward in October (June 2026 SSC)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Done. OFL and ABC are calculated under Tier 4; 6 Tier 3 models shown only to document progress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the model to a minimal parameter set, then add complexity back (June 2026 SSC)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Started. Model 26.2 (male-only) cuts parameters 412 to 234; staged simplification is the next step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Immature survey index is not a convergence fix by itself (June 2026 SSC + CPT)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Agreed. Not included in any model presented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 convergence section identifying which parameters separate minima (June 2026 SSC)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addressed. Attribution ranks the parameters; selectivity leads this cycle, and the sex allocation accounts for the largest class-level movement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responses: data and model inputs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 forward the composition correction and expanded plus group (June 2026 SSC)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in every model from Model 26.1 onward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hybrid Chionoecetes data (May 2026 CPT)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Evaluated in May; excluded from all models per CPT and SSC advice; tracked in the risk table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likelihood profiles to describe uncertainty (Oct 2025 SSC)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until a stable, converged model exists; jitter analysis stands in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male-female recruitment differences vs molt-increment fit (Oct 2025 SSC)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undertaken; recruitment is one total split by an estimated sex allocation, so the series are not independent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responses: maturity definition and Tier 4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 morphometric maturity as the basis (Oct 2025 SSC, reaffirming 2024)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Followed. Morphometric MMB is the recommended definition; &gt;=95 mm and &gt;101 mm reported alongside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Tier 4 implementation requires a harvest control rule (Oct 2025 SSC)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Done. The ramped crab-FMP rule is applied, with the Baranov catch equation; the flat rule is shown as a sensitivity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a stock-specific history of ABC buffers (June 2026 SSC)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Done. 5-year buffer history tabulated; mean 41%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uncertainty in the biomass the control rule acts on (guidelines)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Done. REMA 95% CI on terminal biomass: 81.9 to 145.9 kt (CV 14.8%)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divbg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survey, the net-mensuration correction, and input corrections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this cycle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13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1133856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NMFS summer trawl survey (indices and size compositions); 2025/26 directed fishery catch and compositions (ADF&amp;G); bycatch from NORPAC</a:t>
            </a:r>
            <a:endParaRPr lang="en-US" sz="17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survey specimen data came directly from the Shellfish Assessment Program; crabpack did not yet include the correction</a:t>
            </a:r>
            <a:endParaRPr lang="en-US" sz="17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ogives regenerated from the corrected specimen data (Kodiak workflow)</a:t>
            </a:r>
            <a:endParaRPr lang="en-US" sz="1750" dirty="0"/>
          </a:p>
        </p:txBody>
      </p:sp>
      <p:pic>
        <p:nvPicPr>
          <p:cNvPr id="8" name="Image 1" descr="/tmp/deck/media/index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991" y="2331720"/>
            <a:ext cx="7385538" cy="3429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286000" y="58338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data used in the assessment.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Net-mensuration correction (September 10)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14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1088136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Tanner crab CIE review found average net spread in the 2024-2025 surveys well below earlier years</a:t>
            </a:r>
            <a:endParaRPr lang="en-US" sz="1800" dirty="0"/>
          </a:p>
          <a:p>
            <a:pPr marL="152400" indent="-152400" algn="l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the 2013 correction factor reconciling analog Marport to legacy Netmind sensors is inappropriate for the next-generation Marport sensors used since early 2024</a:t>
            </a:r>
            <a:endParaRPr lang="en-US" sz="1800" dirty="0"/>
          </a:p>
          <a:p>
            <a:pPr marL="152400" indent="-152400" algn="l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correction factor removed; net spread recalculated for all hauls, 2024 to 2026 EBS surveys and 2025 NBS survey</a:t>
            </a:r>
            <a:endParaRPr lang="en-US" sz="1800" dirty="0"/>
          </a:p>
          <a:p>
            <a:pPr marL="152400" indent="-152400" algn="l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spread values ~4% higher, so biomass and abundance ~4% lower in those years; earlier years unchanged</a:t>
            </a:r>
            <a:endParaRPr lang="en-US" sz="1800" dirty="0"/>
          </a:p>
          <a:p>
            <a:pPr marL="152400" indent="-152400" algn="l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models include it:</a:t>
            </a:r>
            <a:endParaRPr lang="en-US" sz="1800" dirty="0"/>
          </a:p>
          <a:p>
            <a:pPr marL="304800" lvl="1" indent="-152400" algn="l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Tier 4 model, Model 26.1b, Model 26.2, Appendix B experiments</a:t>
            </a:r>
            <a:endParaRPr lang="en-US" sz="1800" dirty="0"/>
          </a:p>
          <a:p>
            <a:pPr marL="304800" lvl="1" indent="-152400" algn="l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used in May (uncorrected): Model 25.3, Model 26.1, Model 26.1a, whose data end in 2024</a:t>
            </a:r>
            <a:endParaRPr lang="en-US" sz="1800" dirty="0"/>
          </a:p>
          <a:p>
            <a:pPr marL="304800" lvl="1" indent="-152400" algn="l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26.1a to 26.1b step includes the correction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corrections to input data (4)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15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57607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Total-male size composition corrected: resolves a discrepancy between the September 2025 file and the ADF&amp;G processing script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group expanded to include all crab &gt;135 mm carapace width, previously excluded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Size-composition bin convention: crab exactly on a 5 mm cutoff now assigned to the upper bin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transcription error corrected: a 26.3 mm crab's molt increment recorded as 73 mm instead of 7.3 mm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evaluated and excluded: hybrid catch and survey data; immature survey index</a:t>
            </a:r>
            <a:endParaRPr lang="en-US" sz="1750" dirty="0"/>
          </a:p>
        </p:txBody>
      </p:sp>
      <p:pic>
        <p:nvPicPr>
          <p:cNvPr id="8" name="Image 1" descr="/tmp/deck/media/growthf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914400"/>
            <a:ext cx="5486400" cy="41148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55080" y="51023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to growth data; red dots are new 2025 observations.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trends by maturity definition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16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566928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 definition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(%)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Morphometrically mature males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109.91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males (&gt;= 95 mm)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-27.8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males (&gt; 101 mm)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11480" y="3063240"/>
            <a:ext cx="57607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survey biomass (1,000 t); not model output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males: 15.88 kt, 4th lowest in the 44-year series; 28.33 million crab (CV 13%)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Morphometric biomass nearly unchanged: the choice of definition, not the survey, decides whether the stock looks stable or declining</a:t>
            </a:r>
            <a:endParaRPr lang="en-US" sz="1750" dirty="0"/>
          </a:p>
        </p:txBody>
      </p:sp>
      <p:pic>
        <p:nvPicPr>
          <p:cNvPr id="9" name="Image 1" descr="/tmp/deck/media/obs101_b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868680"/>
            <a:ext cx="4480560" cy="482521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766560" y="576705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Preferred-male (&gt;101 mm) survey biomass (black, with 95% CI); colored lines are model estimates.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Bycatch and other removals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17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57607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non-directed bycatch remains very small: 0.09 kt in 2024; 0.42 kt in 2025 (0.04 kt groundfish trawl, 0.38 kt other crab fisheries)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mortality 30% in the directed pot fishery; trawl bycatch enters the models at 100%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discards very low; not a significant mortality source</a:t>
            </a:r>
            <a:endParaRPr lang="en-US" sz="1750" dirty="0"/>
          </a:p>
        </p:txBody>
      </p:sp>
      <p:pic>
        <p:nvPicPr>
          <p:cNvPr id="8" name="Image 1" descr="/tmp/deck/media/byc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868680"/>
            <a:ext cx="4754880" cy="4754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83680" y="56967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Non-directed bycatch by gear, numbers of crab.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divbg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maturity definition question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Morphometric maturity vs large-male definitions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definition matters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19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57607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Morphometric maturity: males with a large claw relative to carapace width; many mature at sizes the fishery does not retain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points on morphometric biomass can permit removing essentially all large males while the large-male trend is negative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recommended &gt;= 95 mm (2024, Sept 2025); the SSC found region-specific information insufficient for a change and kept morphometric maturity as the basis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follow the SSC's direction and report the &gt;= 95 mm and &gt; 101 mm definitions alongside every recommendation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scale: the recommended OFL of 16.98 kt is 74% of observed large-male biomass and 107% of observed preferred-male biomass in 2026</a:t>
            </a:r>
            <a:endParaRPr lang="en-US" sz="1750" dirty="0"/>
          </a:p>
        </p:txBody>
      </p:sp>
      <p:pic>
        <p:nvPicPr>
          <p:cNvPr id="8" name="Image 1" descr="/tmp/deck/media/maturity_og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868680"/>
            <a:ext cx="3840480" cy="4800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0" y="5742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probability of terminal molt at size (chela height); red = median.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quantities under each definition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20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38560" cy="9144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BMSY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current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FOFL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OFL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OFL (flat)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OFL (linear)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Morphometric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146.29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109.30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0.194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16.98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22.80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21.22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males (&gt;= 95 mm)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85.20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23.53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0.276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4.91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males (&gt; 101 mm)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64.43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16.31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11480" y="3291840"/>
            <a:ext cx="1115568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 on the large-male definitions gives OFLs an order of magnitude lower: both sit just above the closure threshold, where the ramp pushes FOFL toward zero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 changes the OFL 26-fold; that dominates every other source of uncertainty in the Tier 4 calculation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divbg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assessment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basis of the 2026/27 specification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 model on the survey series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22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57607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Random-effects (REMA) smooth of observed survey biomass, fit separately to each maturity definition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smoothed value is the biomass the control rule acts on: 109.30 kt (95% CI 81.9 to 145.9; CV 14.8%)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BMSY proxy = mean of the smoothed series over the full window 1982 to 2026: 146.29 kt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series supplies a value for 2020, when the survey was cancelled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extended from 1982-2024 (Sept 2025) to the full series; effect on proxy and OFL ~1%</a:t>
            </a:r>
            <a:endParaRPr lang="en-US" sz="1750" dirty="0"/>
          </a:p>
        </p:txBody>
      </p:sp>
      <p:pic>
        <p:nvPicPr>
          <p:cNvPr id="8" name="Image 1" descr="/tmp/deck/media/rema_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822960"/>
            <a:ext cx="3456432" cy="4937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98080" y="58338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 fits by maturity definition; points are survey observations.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control rule and catch equation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23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57607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crab-FMP Tier 4 rule: FOFL = M at or above the BMSY proxy, declining below it (alpha = 0.10, beta = 0.25)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status 0.747: FOFL = 0.194 (below M = 0.27)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Baranov catch equation, changed this cycle from the linear form: yield is the fishing fraction of total mortality Z = F + M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form F x B biases the OFL high; the bias is large here because FOFL is near M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 the SSC adopted for 2025/26 after identifying the flat rate as an incomplete implementation</a:t>
            </a:r>
            <a:endParaRPr lang="en-US" sz="1750" dirty="0"/>
          </a:p>
        </p:txBody>
      </p:sp>
      <p:pic>
        <p:nvPicPr>
          <p:cNvPr id="8" name="Image 1" descr="/tmp/deck/media/tier4_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371600"/>
            <a:ext cx="5486400" cy="3429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55080" y="48737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status on the raw series for the large-male definitions; red = closure threshold.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2026/27 specification and OFL uncertainty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24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11480" y="96012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4F9FA"/>
          </a:solidFill>
          <a:ln w="12700">
            <a:solidFill>
              <a:srgbClr val="D5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11480" y="106984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16.98 kt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8288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OFL (median)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154680" y="96012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4F9FA"/>
          </a:solidFill>
          <a:ln w="12700">
            <a:solidFill>
              <a:srgbClr val="D5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154680" y="106984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13.58 kt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3246120" y="18288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(20% buffer)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11480" y="251460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4F9FA"/>
          </a:solidFill>
          <a:ln w="12700">
            <a:solidFill>
              <a:srgbClr val="D5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11480" y="262432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9.27-30.36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33832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OFL 95% CI (kt)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154680" y="251460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4F9FA"/>
          </a:solidFill>
          <a:ln w="12700">
            <a:solidFill>
              <a:srgbClr val="D5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3154680" y="262432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0.194 / yr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3246120" y="33832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FOFL under the ramp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411480" y="4160520"/>
            <a:ext cx="557784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from propagating the REMA CI through the control rule and catch equation</a:t>
            </a:r>
            <a:endParaRPr lang="en-US" sz="17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Kink in the upper tail where biomass crosses the BMSY proxy and the rule caps FOFL at M</a:t>
            </a:r>
            <a:endParaRPr lang="en-US" sz="17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OFL down 16% from the 20.11 kt specified for 2025/26; ABC up 13% given the buffer change from 40% to 20%</a:t>
            </a:r>
            <a:endParaRPr lang="en-US" sz="1700" dirty="0"/>
          </a:p>
        </p:txBody>
      </p:sp>
      <p:pic>
        <p:nvPicPr>
          <p:cNvPr id="20" name="Image 1" descr="/tmp/deck/media/ofl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371600"/>
            <a:ext cx="5486400" cy="286629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355080" y="43110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OFL probability distribution; dashed = recommended OFL, band = 95% CI.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divbg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models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models documenting progress on the convergence problems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3856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accepted model, rolled forward (GMACS 2.20.22, as fitted)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reference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 + GMACS 2.20.34, comp fix, expanded plus group, new maturity workflow (May accepted)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baseline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 + bin convention and growth transcription fixes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 data corrections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26.1b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26.1a + 2025/26 fishery and 2026 survey (corrected). Author-preferred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data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26.1c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26.1b truncated to 2019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post-collapse influence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26.1b male-only (females removed; 412 to 234 parameters)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Simplification direction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11480" y="4434840"/>
            <a:ext cx="109728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proposed for specification. Fits for the 4 jittered models are the best of 100 jitter starts; 25.3 and 26.1a are as originally fitted</a:t>
            </a:r>
            <a:endParaRPr lang="en-US" sz="1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quantities across models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27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38560" cy="914400"/>
        </p:xfrm>
        <a:graphic>
          <a:graphicData uri="http://schemas.openxmlformats.org/drawingml/2006/table">
            <a:tbl>
              <a:tblPr/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BMSY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OFL (total)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MMB terminal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Peculiarity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137.46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fitted in 2025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123.09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Jitter moved OFL 50.27 to 43.83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158.70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fixes alone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above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161.29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147.28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OFL not comparable (2019 data)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130.47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Male-only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11480" y="4069080"/>
            <a:ext cx="1115568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OFLs range 43.8 to 147.3 kt across the set, against a Tier 4 OFL of 16.98 kt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year of data, not structure, moves 26.1b above status 1</a:t>
            </a:r>
            <a:endParaRPr lang="en-US" sz="1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Convergence: what jittering shows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28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57607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jitter starts per model; accepted fit = best likelihood found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26.1b: 6 distinct minima; only 1 of 78 converged runs reaches the best fit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separation is small, but management quantities differ materially across minima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cost in Model 26.1: a solution 1.27 units better moved the total OFL from 50.27 to 43.83 kt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26.2 (male-only): 15.2% of runs reach the minimum; the most promising direction this cycle</a:t>
            </a:r>
            <a:endParaRPr lang="en-US" sz="1750" dirty="0"/>
          </a:p>
        </p:txBody>
      </p:sp>
      <p:pic>
        <p:nvPicPr>
          <p:cNvPr id="8" name="Image 1" descr="/tmp/deck/media/jitter_of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868680"/>
            <a:ext cx="4206240" cy="480713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32320" y="5748963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OFL across 100 jitter runs of Model 26.1b.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parameters separate the minima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29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57607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attribution ranks the standardized differences between minima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this cycle: selectivity (11 of the top 15), natural mortality, fishing mortality offset, recruitment scale; the sex allocation led pre-correction but is no longer in the top 15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sex allocation and female-linked parameters account for most of the movement, consistent with the male-only model converging far better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2019 immature-female M deviation is not identified from a cold start; identifiability is a question for the Plan Team</a:t>
            </a:r>
            <a:endParaRPr lang="en-US" sz="1750" dirty="0"/>
          </a:p>
        </p:txBody>
      </p:sp>
      <p:pic>
        <p:nvPicPr>
          <p:cNvPr id="8" name="Image 1" descr="/tmp/deck/media/jitt_attri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868680"/>
            <a:ext cx="5486400" cy="4389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55080" y="5330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that most separate the jitter minima.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30</a:t>
            </a:r>
            <a:endParaRPr lang="en-US" sz="800" dirty="0"/>
          </a:p>
        </p:txBody>
      </p:sp>
      <p:pic>
        <p:nvPicPr>
          <p:cNvPr id="7" name="Image 1" descr="/tmp/deck/media/mmbf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371600"/>
            <a:ext cx="5486400" cy="3352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11480" y="47975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to mature biomass at survey.</a:t>
            </a:r>
            <a:endParaRPr lang="en-US" sz="1150" dirty="0"/>
          </a:p>
        </p:txBody>
      </p:sp>
      <p:pic>
        <p:nvPicPr>
          <p:cNvPr id="9" name="Image 2" descr="/tmp/deck/media/catchfi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914400"/>
            <a:ext cx="4846320" cy="4846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675120" y="58338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to catch data.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processes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31</a:t>
            </a:r>
            <a:endParaRPr lang="en-US" sz="800" dirty="0"/>
          </a:p>
        </p:txBody>
      </p:sp>
      <p:pic>
        <p:nvPicPr>
          <p:cNvPr id="7" name="Image 1" descr="/tmp/deck/media/nat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48" y="914400"/>
            <a:ext cx="4200144" cy="4846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58338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mortality by sex and maturity state; 2018-19 event estimated.</a:t>
            </a:r>
            <a:endParaRPr lang="en-US" sz="1150" dirty="0"/>
          </a:p>
        </p:txBody>
      </p:sp>
      <p:pic>
        <p:nvPicPr>
          <p:cNvPr id="9" name="Image 2" descr="/tmp/deck/media/recrui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914400"/>
            <a:ext cx="3931920" cy="483928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858000" y="582683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by sex, all models.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Preferred-male abundance: models vs survey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32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57607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agree recent preferred-male abundance is the lowest in the series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years, when survey selectivity differed, are the most variable across models</a:t>
            </a:r>
            <a:endParaRPr lang="en-US" sz="1750" dirty="0"/>
          </a:p>
        </p:txBody>
      </p:sp>
      <p:pic>
        <p:nvPicPr>
          <p:cNvPr id="8" name="Image 1" descr="/tmp/deck/media/obs101_ab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868680"/>
            <a:ext cx="4480560" cy="48252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66560" y="576705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Abundance of males &gt;101 mm: survey (black) vs models (colored).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analyses (Model 26.1b)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33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57607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peels, terminal years 2024 back to 2015; standard sweep and a terminal-survey-dropped sweep</a:t>
            </a:r>
            <a:endParaRPr lang="en-US" sz="17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male biomass: Mohn's rho = -0.11 (standard), -0.11 (survey dropped); inside Hurtado-Ferro bounds for every model</a:t>
            </a:r>
            <a:endParaRPr lang="en-US" sz="17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Peels sit below the full model: terminal biomass tends to be revised upward as data accumulate</a:t>
            </a:r>
            <a:endParaRPr lang="en-US" sz="17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recruitment: rho = 8.1; terminal recruitment unreliable in every configuration</a:t>
            </a:r>
            <a:endParaRPr lang="en-US" sz="17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GMACS does not recompute reference points per peel, so the retrospective characterizes biomass and recruitment only</a:t>
            </a:r>
            <a:endParaRPr lang="en-US" sz="1700" dirty="0"/>
          </a:p>
        </p:txBody>
      </p:sp>
      <p:pic>
        <p:nvPicPr>
          <p:cNvPr id="8" name="Image 1" descr="/tmp/deck/media/retro_mm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005840"/>
            <a:ext cx="5486400" cy="41148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55080" y="51937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retrospective, mature male biomass.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analysis: revisions across assessments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34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57607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Revisions across accepted assessments dwarf the within-model pattern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biomass: 486.5 kt (2020 assessment), 40.95 kt (2021), 19.1 kt at mating (2022), 205.4 kt (2023)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drivers: treatment of terminal molt and BSFRF selectivity priors, the maturity definition used, and no 2020 survey</a:t>
            </a:r>
            <a:endParaRPr lang="en-US" sz="1750" dirty="0"/>
          </a:p>
        </p:txBody>
      </p:sp>
      <p:pic>
        <p:nvPicPr>
          <p:cNvPr id="8" name="Image 1" descr="/tmp/deck/media/historical_mm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822960"/>
            <a:ext cx="5486400" cy="45537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0" y="54498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MMB as seen by each accepted Tier 3 assessment, 2016-2025.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male-only direction (Model 26.2)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35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630936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female population entirely: 412 to 234 parameters</a:t>
            </a:r>
            <a:endParaRPr lang="en-US" sz="17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 of jitter runs recover the accepted fit vs ~1% for the two-sex model; Hessian much better conditioned</a:t>
            </a:r>
            <a:endParaRPr lang="en-US" sz="17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pattern comparable; recruitment rho drops from ~8 to ~0.7</a:t>
            </a:r>
            <a:endParaRPr lang="en-US" sz="17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immature-male M offset pinned at its bound; implied mortality should not enter a specification model without examination</a:t>
            </a:r>
            <a:endParaRPr lang="en-US" sz="17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B: 4 structural experiments (26.d1 stability, 26.d3 eqmdevs, 26.d4 combined, 26.d5 male-only + eqmdevs); the male-only reconfigurations work, the two-sex ones do not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967728" y="105156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4F9FA"/>
          </a:solidFill>
          <a:ln w="12700">
            <a:solidFill>
              <a:srgbClr val="D5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967728" y="116128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059168" y="19202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runs recovering the best fit (26.2)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528048" y="105156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4F9FA"/>
          </a:solidFill>
          <a:ln w="12700">
            <a:solidFill>
              <a:srgbClr val="D5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528048" y="116128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3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9619488" y="19202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rate, two-sex Model 26.1b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967728" y="269748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4F9FA"/>
          </a:solidFill>
          <a:ln w="12700">
            <a:solidFill>
              <a:srgbClr val="D5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967728" y="280720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7059168" y="35661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parameters (vs 412)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528048" y="269748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4F9FA"/>
          </a:solidFill>
          <a:ln w="12700">
            <a:solidFill>
              <a:srgbClr val="D5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9528048" y="280720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9619488" y="35661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Mohn's rho (vs 8.1)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967728" y="4343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jitter diagnostics for the male-only model are in the backup slides and Appendix B.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divbg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buffer and risk table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buffer: 20%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37</a:t>
            </a:r>
            <a:endParaRPr lang="en-US" sz="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SSC buffer (% of OFL)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114800" y="960120"/>
            <a:ext cx="75895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OFL 95% CI spans 9.27 to 30.36 kt; the alternative-definition OFLs fall outside it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consider a larger buffer necessary: the ESP indicates favorable juvenile conditions, and the Tier 4 OFL of 16.98 kt sits well below the Tier 3 range (43.8 to 147.3 kt)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5-assessment buffer history mean: 41% (June 2026 SSC supported reporting this)</a:t>
            </a:r>
            <a:endParaRPr lang="en-US" sz="17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point: preferred males are at their 4th lowest and the biomass CI sits entirely below the BMSY proxy; does that argue for a larger buffer?</a:t>
            </a:r>
            <a:endParaRPr lang="en-US" sz="1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table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38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3856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/ persistent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year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Assessment-related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2: multimodality has persisted across cycles; drove the move to Tier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1: Tier 4 terminal biomass CV 14.8%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dynamics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2: considerable uncertainty in M, recruitment retrospective bias, declining size at maturity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2: preferred males 4th lowest in 44 years; female-skewed sex ratio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scored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1: cold pool and sea ice favorable; offshelf spring transport a caveat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Fishery-informed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scored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1: fleet behavior driven by weather, sorting, fuel, TAC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divbg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and path forward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status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40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57607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Amendment 53 rebuilding plan; Tmin 6 years, Tmax 10 (rebuilt when MMB reaches the BMSY proxy)</a:t>
            </a:r>
            <a:endParaRPr lang="en-US" sz="17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projections: rebuilt by 2029 under no fishing, bycatch only, and the State harvest strategy; 2030 fishing at the ABC</a:t>
            </a:r>
            <a:endParaRPr lang="en-US" sz="17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2018-19-type mortality events recurring ~1 year in 7, rebuilding extends to 2034 or beyond</a:t>
            </a:r>
            <a:endParaRPr lang="en-US" sz="17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driver is recruitment and the ecosystem conditions permitting it, not fishing mortality</a:t>
            </a:r>
            <a:endParaRPr lang="en-US" sz="17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(Model 26.1b): collapsed to 0.06-0.09 billion in 2018-19; 1.6-4.2 billion 2020-2022; ~1.0 billion 2024-25. Treat terminal estimates with caution (rho = 8.1)</a:t>
            </a:r>
            <a:endParaRPr lang="en-US" sz="1700" dirty="0"/>
          </a:p>
        </p:txBody>
      </p:sp>
      <p:pic>
        <p:nvPicPr>
          <p:cNvPr id="8" name="Image 1" descr="/tmp/deck/media/predmm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822960"/>
            <a:ext cx="4846320" cy="4846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675120" y="57424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Model-predicted mature male abundance and biomass.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priorities and the January 2027 workshop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41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1088136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work starts from the male-only model: staged simplification, re-adding complexity while testing convergence at each step</a:t>
            </a:r>
            <a:endParaRPr lang="en-US" sz="18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profiles once a stable model exists</a:t>
            </a:r>
            <a:endParaRPr lang="en-US" sz="18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identifiability of the immature-female mortality deviation</a:t>
            </a:r>
            <a:endParaRPr lang="en-US" sz="18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continue evaluating region-specific reproductive information; old-vs-new workflow comparisons</a:t>
            </a:r>
            <a:endParaRPr lang="en-US" sz="18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selectivity: awaiting additional BSFRF data</a:t>
            </a:r>
            <a:endParaRPr lang="en-US" sz="180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data audit; actual composition sample sizes; discard mortality handled inside GMACS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requests to the CPT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42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914400"/>
            <a:ext cx="1088136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2026/27 specification (Tier 4, morphometric MMB, ramped rule + Baranov): OFL 16.98 kt, ABC 13.58 kt (20% buffer)</a:t>
            </a:r>
            <a:endParaRPr lang="en-US" sz="185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0.747; not overfished, no overfishing; rebuilding continues</a:t>
            </a:r>
            <a:endParaRPr lang="en-US" sz="185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Net-mensuration correction incorporated throughout the models fit to current data</a:t>
            </a:r>
            <a:endParaRPr lang="en-US" sz="185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models document real progress; male-only is the path to a stable model for 2027</a:t>
            </a:r>
            <a:endParaRPr lang="en-US" sz="1850" dirty="0"/>
          </a:p>
          <a:p>
            <a:pPr marL="152400" indent="-152400" algn="l">
              <a:spcAft>
                <a:spcPts val="1000"/>
              </a:spcAft>
              <a:buSzPct val="100000"/>
              <a:buChar char="•"/>
            </a:pPr>
            <a:r>
              <a:rPr lang="en-US" sz="1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Requests:</a:t>
            </a:r>
            <a:endParaRPr lang="en-US" sz="185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the 20% buffer given the correction and the preferred-male situation</a:t>
            </a:r>
            <a:endParaRPr lang="en-US" sz="185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the staged simplification plan for the January 2027 workshop</a:t>
            </a:r>
            <a:endParaRPr lang="en-US" sz="1850" dirty="0"/>
          </a:p>
          <a:p>
            <a:pPr marL="304800" lvl="1" indent="-152400" algn="l">
              <a:spcAft>
                <a:spcPts val="1000"/>
              </a:spcAft>
              <a:buSzPct val="100000"/>
              <a:buChar char="•"/>
            </a:pPr>
            <a:r>
              <a:rPr lang="en-US" sz="1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of the maturity-definition reporting approach</a:t>
            </a:r>
            <a:endParaRPr lang="en-US" sz="1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divbg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slides</a:t>
            </a:r>
            <a:endParaRPr lang="en-US" sz="4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full jitter diagnostics, accepted and male-only models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44</a:t>
            </a:r>
            <a:endParaRPr lang="en-US" sz="800" dirty="0"/>
          </a:p>
        </p:txBody>
      </p:sp>
      <p:pic>
        <p:nvPicPr>
          <p:cNvPr id="7" name="Image 1" descr="/tmp/deck/media/conv_accep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868680"/>
            <a:ext cx="4348480" cy="4892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8338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diagnostics, Model 26.1b (accepted).</a:t>
            </a:r>
            <a:endParaRPr lang="en-US" sz="1150" dirty="0"/>
          </a:p>
        </p:txBody>
      </p:sp>
      <p:pic>
        <p:nvPicPr>
          <p:cNvPr id="9" name="Image 2" descr="/tmp/deck/media/conv_maleon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1040" y="868680"/>
            <a:ext cx="4348480" cy="4892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669280" y="58338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diagnostics, Model 26.2 (male-only).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retrospective variants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45</a:t>
            </a:r>
            <a:endParaRPr lang="en-US" sz="800" dirty="0"/>
          </a:p>
        </p:txBody>
      </p:sp>
      <p:pic>
        <p:nvPicPr>
          <p:cNvPr id="7" name="Image 1" descr="/tmp/deck/media/retro_d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8720"/>
            <a:ext cx="5486400" cy="4114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11480" y="53766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Terminal-survey-dropped retrospective.</a:t>
            </a:r>
            <a:endParaRPr lang="en-US" sz="1150" dirty="0"/>
          </a:p>
        </p:txBody>
      </p:sp>
      <p:pic>
        <p:nvPicPr>
          <p:cNvPr id="9" name="Image 2" descr="/tmp/deck/media/retro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63040"/>
            <a:ext cx="5486400" cy="34290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55080" y="49651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Terminal-year estimates by peel vs full model.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selectivity and maturity inputs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46</a:t>
            </a:r>
            <a:endParaRPr lang="en-US" sz="800" dirty="0"/>
          </a:p>
        </p:txBody>
      </p:sp>
      <p:pic>
        <p:nvPicPr>
          <p:cNvPr id="7" name="Image 1" descr="/tmp/deck/media/select_pri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5486400" cy="42203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11480" y="55736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selectivity with BSFRF-derived priors.</a:t>
            </a:r>
            <a:endParaRPr lang="en-US" sz="1150" dirty="0"/>
          </a:p>
        </p:txBody>
      </p:sp>
      <p:pic>
        <p:nvPicPr>
          <p:cNvPr id="9" name="Image 2" descr="/tmp/deck/media/predm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914400"/>
            <a:ext cx="3931920" cy="483928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949440" y="582683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maturing: estimated vs specified.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assets/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367" y="201168"/>
            <a:ext cx="1161288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645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catch data series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C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65745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Commerce  |  National Oceanic and Atmospheric Administration  |  National Marine Fisheries Service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671255" y="6574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5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snow crab  |  September 2026 CPT  |  47</a:t>
            </a:r>
            <a:endParaRPr lang="en-US" sz="800" dirty="0"/>
          </a:p>
        </p:txBody>
      </p:sp>
      <p:pic>
        <p:nvPicPr>
          <p:cNvPr id="7" name="Image 1" descr="/tmp/deck/media/catch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068" y="1188720"/>
            <a:ext cx="9847385" cy="4572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58338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time series used in the assessment.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4959</Words>
  <Application>Microsoft Macintosh PowerPoint</Application>
  <PresentationFormat>Widescreen</PresentationFormat>
  <Paragraphs>662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grant.adams</cp:lastModifiedBy>
  <cp:revision>3</cp:revision>
  <dcterms:created xsi:type="dcterms:W3CDTF">2026-09-15T00:22:55Z</dcterms:created>
  <dcterms:modified xsi:type="dcterms:W3CDTF">2026-09-15T00:26:50Z</dcterms:modified>
</cp:coreProperties>
</file>